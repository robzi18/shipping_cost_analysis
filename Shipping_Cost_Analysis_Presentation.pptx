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28142B-7743-4795-A5B1-503AD15FBC1E}">
  <a:tblStyle styleId="{1F28142B-7743-4795-A5B1-503AD15FBC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a463b27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5a463b27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9EE0"/>
                </a:solidFill>
                <a:latin typeface="Calibri"/>
                <a:ea typeface="Calibri"/>
                <a:cs typeface="Calibri"/>
                <a:sym typeface="Calibri"/>
              </a:rPr>
              <a:t>DATA ANALYSIS  ·  E-COMMERCE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822960" y="1874519"/>
            <a:ext cx="10241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Did Free Shipping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Increase Profit?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22960" y="36118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8C4D6"/>
                </a:solidFill>
                <a:latin typeface="Calibri"/>
                <a:ea typeface="Calibri"/>
                <a:cs typeface="Calibri"/>
                <a:sym typeface="Calibri"/>
              </a:rPr>
              <a:t>Shipping Cost Analysis — Jan–Sep 2024 (Before vs. Free-Shipping Promotion)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22960" y="402336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C4D6"/>
                </a:solidFill>
                <a:latin typeface="Calibri"/>
                <a:ea typeface="Calibri"/>
                <a:cs typeface="Calibri"/>
                <a:sym typeface="Calibri"/>
              </a:rPr>
              <a:t>Prepared for the Finance Team, following the July 2024 free-shipping rollout on orders &gt; €50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22960" y="438912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8C4D6"/>
                </a:solidFill>
                <a:latin typeface="Calibri"/>
                <a:ea typeface="Calibri"/>
                <a:cs typeface="Calibri"/>
                <a:sym typeface="Calibri"/>
              </a:rPr>
              <a:t>prepared by: Robel Tsegay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E0"/>
                </a:solidFill>
                <a:latin typeface="Calibri"/>
                <a:ea typeface="Calibri"/>
                <a:cs typeface="Calibri"/>
                <a:sym typeface="Calibri"/>
              </a:rPr>
              <a:t>01 · DATA QUALITY SUMMARY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A"/>
                </a:solidFill>
                <a:latin typeface="Calibri"/>
                <a:ea typeface="Calibri"/>
                <a:cs typeface="Calibri"/>
                <a:sym typeface="Calibri"/>
              </a:rPr>
              <a:t>What we found in the raw data</a:t>
            </a:r>
            <a:endParaRPr/>
          </a:p>
        </p:txBody>
      </p:sp>
      <p:graphicFrame>
        <p:nvGraphicFramePr>
          <p:cNvPr id="95" name="Google Shape;95;p14"/>
          <p:cNvGraphicFramePr/>
          <p:nvPr/>
        </p:nvGraphicFramePr>
        <p:xfrm>
          <a:off x="50292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{1F28142B-7743-4795-A5B1-503AD15FBC1E}</a:tableStyleId>
              </a:tblPr>
              <a:tblGrid>
                <a:gridCol w="3718550"/>
                <a:gridCol w="3718550"/>
                <a:gridCol w="3718550"/>
              </a:tblGrid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Issue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1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Where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1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Impact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12A4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Malformed order-line rows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452 rows in order_lines.csv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Extra column shifted parsing; dropped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Duplicate line_id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220 of 47,753 order lines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Verified as exact full-row duplicates before dropping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Missing shipping_cost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595 orders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Filled using business rule (€5.95 / €0.00)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Missing unit_price &amp; line_total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927 order lines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Back-calculated from order_total minus known line totals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Comma decimal in unit_cost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products.csv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Cost values failed to parse; corrected before casting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order_total ≠ sum(line_total)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~2% of orders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B47"/>
                          </a:solidFill>
                        </a:rPr>
                        <a:t>Source-system inconsistency; order_total treated as authoritative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4"/>
          <p:cNvSpPr txBox="1"/>
          <p:nvPr/>
        </p:nvSpPr>
        <p:spPr>
          <a:xfrm>
            <a:off x="502920" y="5074920"/>
            <a:ext cx="1115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E0"/>
                </a:solidFill>
                <a:latin typeface="Calibri"/>
                <a:ea typeface="Calibri"/>
                <a:cs typeface="Calibri"/>
                <a:sym typeface="Calibri"/>
              </a:rPr>
              <a:t>02 · CLEANING DECISIONS &amp; METHODOLOGY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A"/>
                </a:solidFill>
                <a:latin typeface="Calibri"/>
                <a:ea typeface="Calibri"/>
                <a:cs typeface="Calibri"/>
                <a:sym typeface="Calibri"/>
              </a:rPr>
              <a:t>What we did about it, and why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02920" y="1371600"/>
            <a:ext cx="1115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4A9EE0"/>
                </a:solidFill>
                <a:latin typeface="Calibri"/>
                <a:ea typeface="Calibri"/>
                <a:cs typeface="Calibri"/>
                <a:sym typeface="Calibri"/>
              </a:rPr>
              <a:t>raw CSVs  →  pandas (inspect)  →  pandas (clean)  →  merge  →  EDA &amp; visualization</a:t>
            </a:r>
            <a:endParaRPr sz="1600"/>
          </a:p>
        </p:txBody>
      </p:sp>
      <p:sp>
        <p:nvSpPr>
          <p:cNvPr id="105" name="Google Shape;105;p15"/>
          <p:cNvSpPr txBox="1"/>
          <p:nvPr/>
        </p:nvSpPr>
        <p:spPr>
          <a:xfrm>
            <a:off x="502920" y="1965960"/>
            <a:ext cx="111558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Verified the 220 duplicate line_ids were true full-row duplicates (same product, quantity, price) before dropping — not just colliding IDs</a:t>
            </a:r>
            <a:endParaRPr sz="20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Filled missing shipping_cost using the business rule: €5.95 before July, €0.00 for qualifying (&gt;€50) promotion orders</a:t>
            </a:r>
            <a:endParaRPr sz="20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Back-calculated missing unit_price from order_total minus each order's known line-item total, after confirming order_total excludes shipping</a:t>
            </a:r>
            <a:endParaRPr sz="20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Engineered shipping_promotion_period (before / on_promotion) and profit_margin = (unit_price − unit_cost) × quantity per line item</a:t>
            </a:r>
            <a:endParaRPr sz="20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Merged orders + order_lines + products into one analysis table for all downstream EDA</a:t>
            </a:r>
            <a:endParaRPr sz="2000"/>
          </a:p>
        </p:txBody>
      </p:sp>
      <p:sp>
        <p:nvSpPr>
          <p:cNvPr id="106" name="Google Shape;106;p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4A9EE0"/>
                </a:solidFill>
                <a:latin typeface="Calibri"/>
                <a:ea typeface="Calibri"/>
                <a:cs typeface="Calibri"/>
                <a:sym typeface="Calibri"/>
              </a:rPr>
              <a:t>03 · KEY FINDING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112A4A"/>
                </a:solidFill>
                <a:latin typeface="Calibri"/>
                <a:ea typeface="Calibri"/>
                <a:cs typeface="Calibri"/>
                <a:sym typeface="Calibri"/>
              </a:rPr>
              <a:t>The bigger picture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02920" y="1463040"/>
            <a:ext cx="54864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Every region grew during the promotion — East fastest (+49% monthly profit run-rate), West slowest (+27%). No region was left behind.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Electronics dominates revenue (45.1% of category revenue) but converts to a smaller share of profit (37.1%) — a margin story worth a pricing review, not just a volume win.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Customers shifted spending behavior: orders over €360 grew from 15.7% to 21.0% of all orders — shoppers are padding carts to clear the €50 free-shipping bar.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August, July and September — the entire promotion window — are the three highest-profit months of the year, while monthly gross margin stays flat at ~30% throughout. It's a volume story, not a margin story.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911950" y="640050"/>
            <a:ext cx="5746800" cy="5669400"/>
          </a:xfrm>
          <a:prstGeom prst="roundRect">
            <a:avLst>
              <a:gd fmla="val 0" name="adj"/>
            </a:avLst>
          </a:prstGeom>
          <a:solidFill>
            <a:srgbClr val="FAFBFC"/>
          </a:solidFill>
          <a:ln cap="flat" cmpd="sng" w="15875">
            <a:solidFill>
              <a:srgbClr val="A0AC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200" y="745600"/>
            <a:ext cx="5957824" cy="5820500"/>
          </a:xfrm>
          <a:prstGeom prst="rect">
            <a:avLst/>
          </a:prstGeom>
          <a:solidFill>
            <a:srgbClr val="FAFBFC"/>
          </a:solidFill>
          <a:ln cap="flat" cmpd="sng" w="15875">
            <a:solidFill>
              <a:srgbClr val="A0ACB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E0"/>
                </a:solidFill>
                <a:latin typeface="Calibri"/>
                <a:ea typeface="Calibri"/>
                <a:cs typeface="Calibri"/>
                <a:sym typeface="Calibri"/>
              </a:rPr>
              <a:t>03 · KEY FINDING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A"/>
                </a:solidFill>
                <a:latin typeface="Calibri"/>
                <a:ea typeface="Calibri"/>
                <a:cs typeface="Calibri"/>
                <a:sym typeface="Calibri"/>
              </a:rPr>
              <a:t>Is the shipping giveaway actually a loss?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502920" y="1737360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D93B3B"/>
                </a:solidFill>
                <a:latin typeface="Calibri"/>
                <a:ea typeface="Calibri"/>
                <a:cs typeface="Calibri"/>
                <a:sym typeface="Calibri"/>
              </a:rPr>
              <a:t>−€36,610  </a:t>
            </a:r>
            <a:r>
              <a:rPr b="1" i="0" lang="en-US" sz="3800" u="none" cap="none" strike="noStrike">
                <a:solidFill>
                  <a:srgbClr val="112A4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1" i="0" lang="en-US" sz="3800" u="none" cap="none" strike="noStrike">
                <a:solidFill>
                  <a:srgbClr val="2EA04A"/>
                </a:solidFill>
                <a:latin typeface="Calibri"/>
                <a:ea typeface="Calibri"/>
                <a:cs typeface="Calibri"/>
                <a:sym typeface="Calibri"/>
              </a:rPr>
              <a:t>+€457,275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502920" y="2880360"/>
            <a:ext cx="5394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Shipping absorbed on qualifying orders (&gt;€50) during the promotion was more than covered. Net promotion profit</a:t>
            </a:r>
            <a:r>
              <a:rPr b="0" i="0" lang="en-US" sz="15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 of the </a:t>
            </a:r>
            <a:r>
              <a:rPr lang="en-US" sz="15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r>
              <a:rPr b="0" i="0" lang="en-US" sz="15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comfortably paid for the giveaway shipping cost.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507500" y="1261875"/>
            <a:ext cx="6150900" cy="5357100"/>
          </a:xfrm>
          <a:prstGeom prst="roundRect">
            <a:avLst>
              <a:gd fmla="val 1313" name="adj"/>
            </a:avLst>
          </a:prstGeom>
          <a:solidFill>
            <a:srgbClr val="FAFBFC"/>
          </a:solidFill>
          <a:ln cap="flat" cmpd="sng" w="15875">
            <a:solidFill>
              <a:srgbClr val="A0AC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500" y="1378625"/>
            <a:ext cx="6150900" cy="5113625"/>
          </a:xfrm>
          <a:prstGeom prst="rect">
            <a:avLst/>
          </a:prstGeom>
          <a:solidFill>
            <a:srgbClr val="FAFBFC"/>
          </a:solidFill>
          <a:ln cap="flat" cmpd="sng" w="15875">
            <a:solidFill>
              <a:srgbClr val="A0ACB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206675" y="178500"/>
            <a:ext cx="9175200" cy="638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US" sz="1300">
                <a:solidFill>
                  <a:srgbClr val="7A8596"/>
                </a:solidFill>
                <a:latin typeface="Calibri"/>
                <a:ea typeface="Calibri"/>
                <a:cs typeface="Calibri"/>
                <a:sym typeface="Calibri"/>
              </a:rPr>
              <a:t>ate Change (%)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006" y="1008350"/>
            <a:ext cx="8298451" cy="51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4A9EE0"/>
                </a:solidFill>
                <a:latin typeface="Calibri"/>
                <a:ea typeface="Calibri"/>
                <a:cs typeface="Calibri"/>
                <a:sym typeface="Calibri"/>
              </a:rPr>
              <a:t>04 · RECOMMENDATIONS &amp; CAVEATS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112A4A"/>
                </a:solidFill>
                <a:latin typeface="Calibri"/>
                <a:ea typeface="Calibri"/>
                <a:cs typeface="Calibri"/>
                <a:sym typeface="Calibri"/>
              </a:rPr>
              <a:t>What the company should do next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502920" y="1463040"/>
            <a:ext cx="5486400" cy="17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Keep free shipping above €50 — net profit comfortably outweighs the absorbed shipping cost, in every region.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Test the €50 threshold (e.g. €60–€70): customers are already clustering just above it, suggesting room to capture more without losing the behavioral nudge.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Investigate the West region's weaker</a:t>
            </a:r>
            <a:r>
              <a:rPr lang="en-US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617220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4A9EE0"/>
                </a:solidFill>
                <a:latin typeface="Calibri"/>
                <a:ea typeface="Calibri"/>
                <a:cs typeface="Calibri"/>
                <a:sym typeface="Calibri"/>
              </a:rPr>
              <a:t>Caveats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6172200" y="1920240"/>
            <a:ext cx="5486400" cy="1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Before period is 6 months, promotion period is 3 months — all comparisons are normalized for this difference.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No full-year baseline is available for seasonal comparison.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B47"/>
                </a:solidFill>
                <a:latin typeface="Calibri"/>
                <a:ea typeface="Calibri"/>
                <a:cs typeface="Calibri"/>
                <a:sym typeface="Calibri"/>
              </a:rPr>
              <a:t>•  452 malformed rows and 220 duplicate line items were dropped; if non-random, results may be slightly biased.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